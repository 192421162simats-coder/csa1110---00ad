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4" r:id="rId10"/>
    <p:sldId id="275" r:id="rId11"/>
    <p:sldId id="271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841"/>
    <a:srgbClr val="12314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516" y="-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280390"/>
            <a:ext cx="11726545" cy="6232525"/>
          </a:xfrm>
          <a:custGeom>
            <a:avLst/>
            <a:gdLst/>
            <a:ahLst/>
            <a:cxnLst/>
            <a:rect l="l" t="t" r="r" b="b"/>
            <a:pathLst>
              <a:path w="11726545" h="6232525">
                <a:moveTo>
                  <a:pt x="11707025" y="6232347"/>
                </a:moveTo>
                <a:lnTo>
                  <a:pt x="19050" y="6232347"/>
                </a:lnTo>
                <a:lnTo>
                  <a:pt x="15735" y="6232067"/>
                </a:lnTo>
                <a:lnTo>
                  <a:pt x="0" y="6213297"/>
                </a:lnTo>
                <a:lnTo>
                  <a:pt x="0" y="19050"/>
                </a:lnTo>
                <a:lnTo>
                  <a:pt x="19050" y="0"/>
                </a:lnTo>
                <a:lnTo>
                  <a:pt x="11707025" y="0"/>
                </a:lnTo>
                <a:lnTo>
                  <a:pt x="11726075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6194247"/>
                </a:lnTo>
                <a:lnTo>
                  <a:pt x="19050" y="6194247"/>
                </a:lnTo>
                <a:lnTo>
                  <a:pt x="38100" y="6213297"/>
                </a:lnTo>
                <a:lnTo>
                  <a:pt x="11726075" y="6213297"/>
                </a:lnTo>
                <a:lnTo>
                  <a:pt x="11725795" y="6216611"/>
                </a:lnTo>
                <a:lnTo>
                  <a:pt x="11710339" y="6232067"/>
                </a:lnTo>
                <a:lnTo>
                  <a:pt x="11707025" y="6232347"/>
                </a:lnTo>
                <a:close/>
              </a:path>
              <a:path w="11726545" h="623252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1726545" h="6232525">
                <a:moveTo>
                  <a:pt x="11687975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1687975" y="19050"/>
                </a:lnTo>
                <a:lnTo>
                  <a:pt x="11687975" y="38100"/>
                </a:lnTo>
                <a:close/>
              </a:path>
              <a:path w="11726545" h="6232525">
                <a:moveTo>
                  <a:pt x="11687975" y="6213297"/>
                </a:moveTo>
                <a:lnTo>
                  <a:pt x="11687975" y="19050"/>
                </a:lnTo>
                <a:lnTo>
                  <a:pt x="11707025" y="38100"/>
                </a:lnTo>
                <a:lnTo>
                  <a:pt x="11726075" y="38100"/>
                </a:lnTo>
                <a:lnTo>
                  <a:pt x="11726075" y="6194247"/>
                </a:lnTo>
                <a:lnTo>
                  <a:pt x="11707025" y="6194247"/>
                </a:lnTo>
                <a:lnTo>
                  <a:pt x="11687975" y="6213297"/>
                </a:lnTo>
                <a:close/>
              </a:path>
              <a:path w="11726545" h="6232525">
                <a:moveTo>
                  <a:pt x="11726075" y="38100"/>
                </a:moveTo>
                <a:lnTo>
                  <a:pt x="11707025" y="38100"/>
                </a:lnTo>
                <a:lnTo>
                  <a:pt x="11687975" y="19050"/>
                </a:lnTo>
                <a:lnTo>
                  <a:pt x="11726075" y="19050"/>
                </a:lnTo>
                <a:lnTo>
                  <a:pt x="11726075" y="38100"/>
                </a:lnTo>
                <a:close/>
              </a:path>
              <a:path w="11726545" h="6232525">
                <a:moveTo>
                  <a:pt x="38100" y="6213297"/>
                </a:moveTo>
                <a:lnTo>
                  <a:pt x="19050" y="6194247"/>
                </a:lnTo>
                <a:lnTo>
                  <a:pt x="38100" y="6194247"/>
                </a:lnTo>
                <a:lnTo>
                  <a:pt x="38100" y="6213297"/>
                </a:lnTo>
                <a:close/>
              </a:path>
              <a:path w="11726545" h="6232525">
                <a:moveTo>
                  <a:pt x="11687975" y="6213297"/>
                </a:moveTo>
                <a:lnTo>
                  <a:pt x="38100" y="6213297"/>
                </a:lnTo>
                <a:lnTo>
                  <a:pt x="38100" y="6194247"/>
                </a:lnTo>
                <a:lnTo>
                  <a:pt x="11687975" y="6194247"/>
                </a:lnTo>
                <a:lnTo>
                  <a:pt x="11687975" y="6213297"/>
                </a:lnTo>
                <a:close/>
              </a:path>
              <a:path w="11726545" h="6232525">
                <a:moveTo>
                  <a:pt x="11726075" y="6213297"/>
                </a:moveTo>
                <a:lnTo>
                  <a:pt x="11687975" y="6213297"/>
                </a:lnTo>
                <a:lnTo>
                  <a:pt x="11707025" y="6194247"/>
                </a:lnTo>
                <a:lnTo>
                  <a:pt x="11726075" y="6194247"/>
                </a:lnTo>
                <a:lnTo>
                  <a:pt x="11726075" y="62132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1536" y="298195"/>
            <a:ext cx="11654790" cy="6162675"/>
          </a:xfrm>
          <a:custGeom>
            <a:avLst/>
            <a:gdLst/>
            <a:ahLst/>
            <a:cxnLst/>
            <a:rect l="l" t="t" r="r" b="b"/>
            <a:pathLst>
              <a:path w="11654790" h="6162675">
                <a:moveTo>
                  <a:pt x="11635206" y="6162484"/>
                </a:moveTo>
                <a:lnTo>
                  <a:pt x="19050" y="6162484"/>
                </a:lnTo>
                <a:lnTo>
                  <a:pt x="15747" y="6162192"/>
                </a:lnTo>
                <a:lnTo>
                  <a:pt x="0" y="6143434"/>
                </a:lnTo>
                <a:lnTo>
                  <a:pt x="0" y="19049"/>
                </a:lnTo>
                <a:lnTo>
                  <a:pt x="19050" y="0"/>
                </a:lnTo>
                <a:lnTo>
                  <a:pt x="11635206" y="0"/>
                </a:lnTo>
                <a:lnTo>
                  <a:pt x="11654256" y="19049"/>
                </a:lnTo>
                <a:lnTo>
                  <a:pt x="38100" y="19049"/>
                </a:lnTo>
                <a:lnTo>
                  <a:pt x="19050" y="38099"/>
                </a:lnTo>
                <a:lnTo>
                  <a:pt x="38100" y="38099"/>
                </a:lnTo>
                <a:lnTo>
                  <a:pt x="38100" y="6124384"/>
                </a:lnTo>
                <a:lnTo>
                  <a:pt x="19050" y="6124384"/>
                </a:lnTo>
                <a:lnTo>
                  <a:pt x="38100" y="6143434"/>
                </a:lnTo>
                <a:lnTo>
                  <a:pt x="11654256" y="6143434"/>
                </a:lnTo>
                <a:lnTo>
                  <a:pt x="11653964" y="6146736"/>
                </a:lnTo>
                <a:lnTo>
                  <a:pt x="11638521" y="6162192"/>
                </a:lnTo>
                <a:lnTo>
                  <a:pt x="11635206" y="6162484"/>
                </a:lnTo>
                <a:close/>
              </a:path>
              <a:path w="11654790" h="6162675">
                <a:moveTo>
                  <a:pt x="38100" y="38099"/>
                </a:moveTo>
                <a:lnTo>
                  <a:pt x="19050" y="38099"/>
                </a:lnTo>
                <a:lnTo>
                  <a:pt x="38100" y="19049"/>
                </a:lnTo>
                <a:lnTo>
                  <a:pt x="38100" y="38099"/>
                </a:lnTo>
                <a:close/>
              </a:path>
              <a:path w="11654790" h="6162675">
                <a:moveTo>
                  <a:pt x="11616156" y="38099"/>
                </a:moveTo>
                <a:lnTo>
                  <a:pt x="38100" y="38099"/>
                </a:lnTo>
                <a:lnTo>
                  <a:pt x="38100" y="19049"/>
                </a:lnTo>
                <a:lnTo>
                  <a:pt x="11616156" y="19049"/>
                </a:lnTo>
                <a:lnTo>
                  <a:pt x="11616156" y="38099"/>
                </a:lnTo>
                <a:close/>
              </a:path>
              <a:path w="11654790" h="6162675">
                <a:moveTo>
                  <a:pt x="11616156" y="6143434"/>
                </a:moveTo>
                <a:lnTo>
                  <a:pt x="11616156" y="19049"/>
                </a:lnTo>
                <a:lnTo>
                  <a:pt x="11635206" y="38099"/>
                </a:lnTo>
                <a:lnTo>
                  <a:pt x="11654256" y="38099"/>
                </a:lnTo>
                <a:lnTo>
                  <a:pt x="11654256" y="6124384"/>
                </a:lnTo>
                <a:lnTo>
                  <a:pt x="11635206" y="6124384"/>
                </a:lnTo>
                <a:lnTo>
                  <a:pt x="11616156" y="6143434"/>
                </a:lnTo>
                <a:close/>
              </a:path>
              <a:path w="11654790" h="6162675">
                <a:moveTo>
                  <a:pt x="11654256" y="38099"/>
                </a:moveTo>
                <a:lnTo>
                  <a:pt x="11635206" y="38099"/>
                </a:lnTo>
                <a:lnTo>
                  <a:pt x="11616156" y="19049"/>
                </a:lnTo>
                <a:lnTo>
                  <a:pt x="11654256" y="19049"/>
                </a:lnTo>
                <a:lnTo>
                  <a:pt x="11654256" y="38099"/>
                </a:lnTo>
                <a:close/>
              </a:path>
              <a:path w="11654790" h="6162675">
                <a:moveTo>
                  <a:pt x="38100" y="6143434"/>
                </a:moveTo>
                <a:lnTo>
                  <a:pt x="19050" y="6124384"/>
                </a:lnTo>
                <a:lnTo>
                  <a:pt x="38100" y="6124384"/>
                </a:lnTo>
                <a:lnTo>
                  <a:pt x="38100" y="6143434"/>
                </a:lnTo>
                <a:close/>
              </a:path>
              <a:path w="11654790" h="6162675">
                <a:moveTo>
                  <a:pt x="11616156" y="6143434"/>
                </a:moveTo>
                <a:lnTo>
                  <a:pt x="38100" y="6143434"/>
                </a:lnTo>
                <a:lnTo>
                  <a:pt x="38100" y="6124384"/>
                </a:lnTo>
                <a:lnTo>
                  <a:pt x="11616156" y="6124384"/>
                </a:lnTo>
                <a:lnTo>
                  <a:pt x="11616156" y="6143434"/>
                </a:lnTo>
                <a:close/>
              </a:path>
              <a:path w="11654790" h="6162675">
                <a:moveTo>
                  <a:pt x="11654256" y="6143434"/>
                </a:moveTo>
                <a:lnTo>
                  <a:pt x="11616156" y="6143434"/>
                </a:lnTo>
                <a:lnTo>
                  <a:pt x="11635206" y="6124384"/>
                </a:lnTo>
                <a:lnTo>
                  <a:pt x="11654256" y="6124384"/>
                </a:lnTo>
                <a:lnTo>
                  <a:pt x="11654256" y="61434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55975" y="510984"/>
            <a:ext cx="5858509" cy="124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6195" y="1774355"/>
            <a:ext cx="6555105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09" y="326390"/>
            <a:ext cx="11630660" cy="1877060"/>
            <a:chOff x="295909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295909" y="326390"/>
              <a:ext cx="11630660" cy="1877060"/>
            </a:xfrm>
            <a:custGeom>
              <a:avLst/>
              <a:gdLst/>
              <a:ahLst/>
              <a:cxnLst/>
              <a:rect l="l" t="t" r="r" b="b"/>
              <a:pathLst>
                <a:path w="11630660" h="1877060">
                  <a:moveTo>
                    <a:pt x="11611610" y="1877059"/>
                  </a:moveTo>
                  <a:lnTo>
                    <a:pt x="19050" y="1877059"/>
                  </a:lnTo>
                  <a:lnTo>
                    <a:pt x="15747" y="1876767"/>
                  </a:lnTo>
                  <a:lnTo>
                    <a:pt x="0" y="1858009"/>
                  </a:lnTo>
                  <a:lnTo>
                    <a:pt x="0" y="19049"/>
                  </a:lnTo>
                  <a:lnTo>
                    <a:pt x="19050" y="0"/>
                  </a:lnTo>
                  <a:lnTo>
                    <a:pt x="11611610" y="0"/>
                  </a:lnTo>
                  <a:lnTo>
                    <a:pt x="11630660" y="19049"/>
                  </a:lnTo>
                  <a:lnTo>
                    <a:pt x="38100" y="19049"/>
                  </a:lnTo>
                  <a:lnTo>
                    <a:pt x="19050" y="38099"/>
                  </a:lnTo>
                  <a:lnTo>
                    <a:pt x="38100" y="38099"/>
                  </a:lnTo>
                  <a:lnTo>
                    <a:pt x="38100" y="1838959"/>
                  </a:lnTo>
                  <a:lnTo>
                    <a:pt x="19050" y="1838959"/>
                  </a:lnTo>
                  <a:lnTo>
                    <a:pt x="38100" y="1858009"/>
                  </a:lnTo>
                  <a:lnTo>
                    <a:pt x="11630660" y="1858009"/>
                  </a:lnTo>
                  <a:lnTo>
                    <a:pt x="11630367" y="1861311"/>
                  </a:lnTo>
                  <a:lnTo>
                    <a:pt x="11614912" y="1876767"/>
                  </a:lnTo>
                  <a:lnTo>
                    <a:pt x="11611610" y="1877059"/>
                  </a:lnTo>
                  <a:close/>
                </a:path>
                <a:path w="11630660" h="1877060">
                  <a:moveTo>
                    <a:pt x="38100" y="38099"/>
                  </a:moveTo>
                  <a:lnTo>
                    <a:pt x="19050" y="38099"/>
                  </a:lnTo>
                  <a:lnTo>
                    <a:pt x="38100" y="19049"/>
                  </a:lnTo>
                  <a:lnTo>
                    <a:pt x="38100" y="38099"/>
                  </a:lnTo>
                  <a:close/>
                </a:path>
                <a:path w="11630660" h="1877060">
                  <a:moveTo>
                    <a:pt x="11592560" y="38099"/>
                  </a:moveTo>
                  <a:lnTo>
                    <a:pt x="38100" y="38099"/>
                  </a:lnTo>
                  <a:lnTo>
                    <a:pt x="38100" y="19049"/>
                  </a:lnTo>
                  <a:lnTo>
                    <a:pt x="11592560" y="19049"/>
                  </a:lnTo>
                  <a:lnTo>
                    <a:pt x="11592560" y="38099"/>
                  </a:lnTo>
                  <a:close/>
                </a:path>
                <a:path w="11630660" h="1877060">
                  <a:moveTo>
                    <a:pt x="11592560" y="1858009"/>
                  </a:moveTo>
                  <a:lnTo>
                    <a:pt x="11592560" y="19049"/>
                  </a:lnTo>
                  <a:lnTo>
                    <a:pt x="11611610" y="38099"/>
                  </a:lnTo>
                  <a:lnTo>
                    <a:pt x="11630660" y="38099"/>
                  </a:lnTo>
                  <a:lnTo>
                    <a:pt x="11630660" y="1838959"/>
                  </a:lnTo>
                  <a:lnTo>
                    <a:pt x="11611610" y="1838959"/>
                  </a:lnTo>
                  <a:lnTo>
                    <a:pt x="11592560" y="1858009"/>
                  </a:lnTo>
                  <a:close/>
                </a:path>
                <a:path w="11630660" h="1877060">
                  <a:moveTo>
                    <a:pt x="11630660" y="38099"/>
                  </a:moveTo>
                  <a:lnTo>
                    <a:pt x="11611610" y="38099"/>
                  </a:lnTo>
                  <a:lnTo>
                    <a:pt x="11592560" y="19049"/>
                  </a:lnTo>
                  <a:lnTo>
                    <a:pt x="11630660" y="19049"/>
                  </a:lnTo>
                  <a:lnTo>
                    <a:pt x="11630660" y="38099"/>
                  </a:lnTo>
                  <a:close/>
                </a:path>
                <a:path w="11630660" h="1877060">
                  <a:moveTo>
                    <a:pt x="38100" y="1858009"/>
                  </a:moveTo>
                  <a:lnTo>
                    <a:pt x="19050" y="1838959"/>
                  </a:lnTo>
                  <a:lnTo>
                    <a:pt x="38100" y="1838959"/>
                  </a:lnTo>
                  <a:lnTo>
                    <a:pt x="38100" y="1858009"/>
                  </a:lnTo>
                  <a:close/>
                </a:path>
                <a:path w="11630660" h="1877060">
                  <a:moveTo>
                    <a:pt x="11592560" y="1858009"/>
                  </a:moveTo>
                  <a:lnTo>
                    <a:pt x="38100" y="1858009"/>
                  </a:lnTo>
                  <a:lnTo>
                    <a:pt x="38100" y="1838959"/>
                  </a:lnTo>
                  <a:lnTo>
                    <a:pt x="11592560" y="1838959"/>
                  </a:lnTo>
                  <a:lnTo>
                    <a:pt x="11592560" y="1858009"/>
                  </a:lnTo>
                  <a:close/>
                </a:path>
                <a:path w="11630660" h="1877060">
                  <a:moveTo>
                    <a:pt x="11630660" y="1858009"/>
                  </a:moveTo>
                  <a:lnTo>
                    <a:pt x="11592560" y="1858009"/>
                  </a:lnTo>
                  <a:lnTo>
                    <a:pt x="11611610" y="1838959"/>
                  </a:lnTo>
                  <a:lnTo>
                    <a:pt x="11630660" y="1838959"/>
                  </a:lnTo>
                  <a:lnTo>
                    <a:pt x="11630660" y="1858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87" y="507492"/>
              <a:ext cx="10972800" cy="11811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350010" y="3539261"/>
            <a:ext cx="9522460" cy="3319145"/>
          </a:xfrm>
          <a:custGeom>
            <a:avLst/>
            <a:gdLst/>
            <a:ahLst/>
            <a:cxnLst/>
            <a:rect l="l" t="t" r="r" b="b"/>
            <a:pathLst>
              <a:path w="9522460" h="3319145">
                <a:moveTo>
                  <a:pt x="12700" y="3318738"/>
                </a:moveTo>
                <a:lnTo>
                  <a:pt x="0" y="3318738"/>
                </a:lnTo>
                <a:lnTo>
                  <a:pt x="0" y="6350"/>
                </a:lnTo>
                <a:lnTo>
                  <a:pt x="6350" y="0"/>
                </a:lnTo>
                <a:lnTo>
                  <a:pt x="9516110" y="0"/>
                </a:lnTo>
                <a:lnTo>
                  <a:pt x="952246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318738"/>
                </a:lnTo>
                <a:close/>
              </a:path>
              <a:path w="9522460" h="331914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9522460" h="3319145">
                <a:moveTo>
                  <a:pt x="950976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9509760" y="6350"/>
                </a:lnTo>
                <a:lnTo>
                  <a:pt x="9509760" y="12700"/>
                </a:lnTo>
                <a:close/>
              </a:path>
              <a:path w="9522460" h="3319145">
                <a:moveTo>
                  <a:pt x="9522460" y="3318738"/>
                </a:moveTo>
                <a:lnTo>
                  <a:pt x="9509760" y="3318738"/>
                </a:lnTo>
                <a:lnTo>
                  <a:pt x="9509760" y="6350"/>
                </a:lnTo>
                <a:lnTo>
                  <a:pt x="9516110" y="12700"/>
                </a:lnTo>
                <a:lnTo>
                  <a:pt x="9522460" y="12700"/>
                </a:lnTo>
                <a:lnTo>
                  <a:pt x="9522460" y="3318738"/>
                </a:lnTo>
                <a:close/>
              </a:path>
              <a:path w="9522460" h="3319145">
                <a:moveTo>
                  <a:pt x="9522460" y="12700"/>
                </a:moveTo>
                <a:lnTo>
                  <a:pt x="9516110" y="12700"/>
                </a:lnTo>
                <a:lnTo>
                  <a:pt x="9509760" y="6350"/>
                </a:lnTo>
                <a:lnTo>
                  <a:pt x="9522460" y="6350"/>
                </a:lnTo>
                <a:lnTo>
                  <a:pt x="952246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6210" y="3498850"/>
            <a:ext cx="8074025" cy="215074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R="1324610" algn="l">
              <a:lnSpc>
                <a:spcPct val="100000"/>
              </a:lnSpc>
              <a:spcBef>
                <a:spcPts val="1035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2000" spc="-15" dirty="0">
                <a:latin typeface="Times New Roman" panose="02020603050405020304"/>
                <a:cs typeface="Times New Roman" panose="02020603050405020304"/>
              </a:rPr>
              <a:t>Dhaanush Rajan - 192421162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Subject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code: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US" sz="2000" spc="-45" dirty="0">
                <a:latin typeface="Times New Roman" panose="02020603050405020304"/>
                <a:cs typeface="Times New Roman" panose="02020603050405020304"/>
              </a:rPr>
              <a:t>CSA1110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9000"/>
              </a:lnSpc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Subject:</a:t>
            </a:r>
            <a:r>
              <a:rPr sz="2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" sz="2000" spc="-105" dirty="0">
                <a:latin typeface="Times New Roman" panose="02020603050405020304"/>
                <a:cs typeface="Times New Roman" panose="02020603050405020304"/>
              </a:rPr>
              <a:t>OBJECT ORIENTED ANALYSIS AND DESIGN </a:t>
            </a:r>
            <a:endParaRPr sz="20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9000"/>
              </a:lnSpc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Guide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Dr.</a:t>
            </a:r>
            <a:r>
              <a:rPr lang="en-IN" altLang="" sz="2000" spc="-50" dirty="0">
                <a:latin typeface="Times New Roman" panose="02020603050405020304"/>
                <a:cs typeface="Times New Roman" panose="02020603050405020304"/>
              </a:rPr>
              <a:t> A. MANIMARAN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381760">
              <a:lnSpc>
                <a:spcPct val="100000"/>
              </a:lnSpc>
              <a:spcBef>
                <a:spcPts val="940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Box 8"/>
          <p:cNvSpPr txBox="1"/>
          <p:nvPr/>
        </p:nvSpPr>
        <p:spPr>
          <a:xfrm>
            <a:off x="1983105" y="2247265"/>
            <a:ext cx="85324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TECHNICAL PRESENTATION </a:t>
            </a:r>
            <a:br>
              <a:rPr lang="en-I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Selecting an Appropriate SDLC Model for Mobile App Development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452627"/>
            <a:ext cx="1418844" cy="144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7147" y="385572"/>
            <a:ext cx="1647444" cy="134264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35" y="635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Box 8"/>
          <p:cNvSpPr txBox="1"/>
          <p:nvPr/>
        </p:nvSpPr>
        <p:spPr>
          <a:xfrm>
            <a:off x="1600200" y="2644775"/>
            <a:ext cx="905002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 company develops a Mobile Learning Application where customer requirements change frequently. Compare Agile, Waterfall, and Spiral models. Analyze their advantages and limitations and recommend the most suitable SDLC model with justification.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4600" y="510984"/>
            <a:ext cx="5858509" cy="50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6030" algn="ctr">
              <a:lnSpc>
                <a:spcPct val="100000"/>
              </a:lnSpc>
              <a:spcBef>
                <a:spcPts val="105"/>
              </a:spcBef>
            </a:pPr>
            <a:r>
              <a:rPr lang="en-IN" altLang="en-US" sz="320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79" y="364236"/>
            <a:ext cx="1418844" cy="1447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8420" y="364490"/>
            <a:ext cx="1647190" cy="134239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Box 8"/>
          <p:cNvSpPr txBox="1"/>
          <p:nvPr/>
        </p:nvSpPr>
        <p:spPr>
          <a:xfrm>
            <a:off x="1600200" y="2614295"/>
            <a:ext cx="8956040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ct val="60000"/>
              </a:spcAft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To compare the Agile, Waterfall, and Spiral SDLC models, analyze their advantages and limitations, and identify the most suitable model for developing a Mobile Learning Application with frequently changing customer requirements. The objective is to recommend the best SDLC approach that ensures flexibility, continuous customer feedback, high software quality, and timely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691" y="364236"/>
            <a:ext cx="1418844" cy="144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888" y="483108"/>
            <a:ext cx="1647444" cy="134264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 1"/>
          <p:cNvSpPr/>
          <p:nvPr/>
        </p:nvSpPr>
        <p:spPr>
          <a:xfrm>
            <a:off x="2536825" y="609600"/>
            <a:ext cx="711835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Frequent Requirement Change in a Mobile Learning App</a:t>
            </a:r>
          </a:p>
        </p:txBody>
      </p:sp>
      <p:sp>
        <p:nvSpPr>
          <p:cNvPr id="5" name="Shape 2"/>
          <p:cNvSpPr/>
          <p:nvPr/>
        </p:nvSpPr>
        <p:spPr>
          <a:xfrm>
            <a:off x="548640" y="18135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A1F33">
                <a:alpha val="25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822960" y="2133600"/>
            <a:ext cx="731520" cy="731520"/>
          </a:xfrm>
          <a:prstGeom prst="ellipse">
            <a:avLst/>
          </a:prstGeom>
          <a:solidFill>
            <a:srgbClr val="1C4966"/>
          </a:solidFill>
        </p:spPr>
      </p:sp>
      <p:pic>
        <p:nvPicPr>
          <p:cNvPr id="9" name="Image 0" descr="/home/claude/sdlc_ppt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1648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30480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Evolving Learner Needs</a:t>
            </a:r>
          </a:p>
        </p:txBody>
      </p:sp>
      <p:sp>
        <p:nvSpPr>
          <p:cNvPr id="11" name="Text 5"/>
          <p:cNvSpPr/>
          <p:nvPr/>
        </p:nvSpPr>
        <p:spPr>
          <a:xfrm>
            <a:off x="822960" y="359664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56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Students and instructors request new quiz types, gamification, and content formats mid-course.</a:t>
            </a:r>
          </a:p>
        </p:txBody>
      </p:sp>
      <p:sp>
        <p:nvSpPr>
          <p:cNvPr id="12" name="Shape 6"/>
          <p:cNvSpPr/>
          <p:nvPr/>
        </p:nvSpPr>
        <p:spPr>
          <a:xfrm>
            <a:off x="4297680" y="18135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A1F33">
                <a:alpha val="25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4572000" y="2133600"/>
            <a:ext cx="731520" cy="731520"/>
          </a:xfrm>
          <a:prstGeom prst="ellipse">
            <a:avLst/>
          </a:prstGeom>
          <a:solidFill>
            <a:srgbClr val="1C4966"/>
          </a:solidFill>
        </p:spPr>
      </p:sp>
      <p:pic>
        <p:nvPicPr>
          <p:cNvPr id="14" name="Image 1" descr="/home/claude/sdlc_ppt/icon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31648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0" y="30480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Platform Fragmentation</a:t>
            </a:r>
          </a:p>
        </p:txBody>
      </p:sp>
      <p:sp>
        <p:nvSpPr>
          <p:cNvPr id="16" name="Text 9"/>
          <p:cNvSpPr/>
          <p:nvPr/>
        </p:nvSpPr>
        <p:spPr>
          <a:xfrm>
            <a:off x="4572000" y="359664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56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iOS/Android OS updates and new device form factors force continuous UI and API rework.</a:t>
            </a:r>
          </a:p>
        </p:txBody>
      </p:sp>
      <p:sp>
        <p:nvSpPr>
          <p:cNvPr id="17" name="Shape 10"/>
          <p:cNvSpPr/>
          <p:nvPr/>
        </p:nvSpPr>
        <p:spPr>
          <a:xfrm>
            <a:off x="8046720" y="18135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A1F33">
                <a:alpha val="2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8321040" y="2133600"/>
            <a:ext cx="731520" cy="731520"/>
          </a:xfrm>
          <a:prstGeom prst="ellipse">
            <a:avLst/>
          </a:prstGeom>
          <a:solidFill>
            <a:srgbClr val="1C4966"/>
          </a:solidFill>
        </p:spPr>
      </p:sp>
      <p:pic>
        <p:nvPicPr>
          <p:cNvPr id="19" name="Image 2" descr="/home/claude/sdlc_ppt/icon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3164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21040" y="30480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Market Feedback Loops</a:t>
            </a:r>
          </a:p>
        </p:txBody>
      </p:sp>
      <p:sp>
        <p:nvSpPr>
          <p:cNvPr id="21" name="Text 13"/>
          <p:cNvSpPr/>
          <p:nvPr/>
        </p:nvSpPr>
        <p:spPr>
          <a:xfrm>
            <a:off x="8321040" y="359664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56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App-store reviews and analytics reveal usability gaps only after real users engage.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57459" y="310896"/>
              <a:ext cx="1647444" cy="13426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571" y="431292"/>
              <a:ext cx="1418843" cy="1447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3048000" y="7620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Waterfall Model</a:t>
            </a:r>
          </a:p>
        </p:txBody>
      </p:sp>
      <p:sp>
        <p:nvSpPr>
          <p:cNvPr id="3" name="Shape 3"/>
          <p:cNvSpPr/>
          <p:nvPr/>
        </p:nvSpPr>
        <p:spPr>
          <a:xfrm>
            <a:off x="765810" y="557403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C4966"/>
          </a:solidFill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65810" y="557403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</a:t>
            </a:r>
            <a:endParaRPr lang="en-US" sz="1250" dirty="0"/>
          </a:p>
        </p:txBody>
      </p:sp>
      <p:pic>
        <p:nvPicPr>
          <p:cNvPr id="10" name="Image 1" descr="/home/claude/sdlc_ppt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914" y="5843778"/>
            <a:ext cx="237744" cy="2377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896362" y="557403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2314F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12" name="Text 6"/>
          <p:cNvSpPr/>
          <p:nvPr/>
        </p:nvSpPr>
        <p:spPr>
          <a:xfrm>
            <a:off x="2896362" y="557403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250" dirty="0"/>
          </a:p>
        </p:txBody>
      </p:sp>
      <p:pic>
        <p:nvPicPr>
          <p:cNvPr id="13" name="Image 2" descr="/home/claude/sdlc_ppt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466" y="5843778"/>
            <a:ext cx="237744" cy="2377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026914" y="557403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2314F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15" name="Text 8"/>
          <p:cNvSpPr/>
          <p:nvPr/>
        </p:nvSpPr>
        <p:spPr>
          <a:xfrm>
            <a:off x="5026914" y="557403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1250" dirty="0"/>
          </a:p>
        </p:txBody>
      </p:sp>
      <p:pic>
        <p:nvPicPr>
          <p:cNvPr id="16" name="Image 3" descr="/home/claude/sdlc_ppt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5843778"/>
            <a:ext cx="237744" cy="23774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157466" y="557403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0A284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18" name="Text 10"/>
          <p:cNvSpPr/>
          <p:nvPr/>
        </p:nvSpPr>
        <p:spPr>
          <a:xfrm>
            <a:off x="7157466" y="557403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250" dirty="0"/>
          </a:p>
        </p:txBody>
      </p:sp>
      <p:pic>
        <p:nvPicPr>
          <p:cNvPr id="19" name="Image 4" descr="/home/claude/sdlc_ppt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0" y="5843778"/>
            <a:ext cx="237744" cy="237744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288018" y="557403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2314F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sp>
      <p:sp>
        <p:nvSpPr>
          <p:cNvPr id="21" name="Text 12"/>
          <p:cNvSpPr/>
          <p:nvPr/>
        </p:nvSpPr>
        <p:spPr>
          <a:xfrm>
            <a:off x="9288018" y="557403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2" name="Text Box 21"/>
          <p:cNvSpPr txBox="1"/>
          <p:nvPr/>
        </p:nvSpPr>
        <p:spPr>
          <a:xfrm>
            <a:off x="1752600" y="1581150"/>
            <a:ext cx="842327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The Waterfall Model is a traditional linear and sequential SDLC model in which each phase of software development is completed before moving to the next. </a:t>
            </a:r>
          </a:p>
          <a:p>
            <a:pPr algn="ctr">
              <a:spcAft>
                <a:spcPct val="60000"/>
              </a:spcAft>
            </a:pP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822960" y="2399665"/>
            <a:ext cx="4911725" cy="298640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A1F33">
                <a:alpha val="25000"/>
              </a:srgbClr>
            </a:outerShdw>
          </a:effectLst>
        </p:spPr>
      </p:sp>
      <p:sp>
        <p:nvSpPr>
          <p:cNvPr id="35" name="Shape 15"/>
          <p:cNvSpPr/>
          <p:nvPr/>
        </p:nvSpPr>
        <p:spPr>
          <a:xfrm>
            <a:off x="1097280" y="2673985"/>
            <a:ext cx="462915" cy="469265"/>
          </a:xfrm>
          <a:prstGeom prst="ellipse">
            <a:avLst/>
          </a:prstGeom>
          <a:solidFill>
            <a:srgbClr val="2E7D32"/>
          </a:solidFill>
        </p:spPr>
      </p:sp>
      <p:pic>
        <p:nvPicPr>
          <p:cNvPr id="36" name="Image 5" descr="/home/claude/sdlc_ppt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310" y="2787015"/>
            <a:ext cx="258445" cy="258445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1737360" y="2673985"/>
            <a:ext cx="3778885" cy="427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38" name="Text 17"/>
          <p:cNvSpPr/>
          <p:nvPr/>
        </p:nvSpPr>
        <p:spPr>
          <a:xfrm>
            <a:off x="1143000" y="3314065"/>
            <a:ext cx="4323715" cy="1962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Simple and easy to understand and implement.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Well-defined phases with clear documentation.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Easy to manage due to a structured approach.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Suitable for projects with fixed and well-defined requirements.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6537960" y="2399665"/>
            <a:ext cx="4911725" cy="298640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A1F33">
                <a:alpha val="25000"/>
              </a:srgbClr>
            </a:outerShdw>
          </a:effectLst>
        </p:spPr>
      </p:sp>
      <p:sp>
        <p:nvSpPr>
          <p:cNvPr id="40" name="Shape 19"/>
          <p:cNvSpPr/>
          <p:nvPr/>
        </p:nvSpPr>
        <p:spPr>
          <a:xfrm>
            <a:off x="6812280" y="2673985"/>
            <a:ext cx="462915" cy="469265"/>
          </a:xfrm>
          <a:prstGeom prst="ellipse">
            <a:avLst/>
          </a:prstGeom>
          <a:solidFill>
            <a:srgbClr val="B3261E"/>
          </a:solidFill>
        </p:spPr>
      </p:sp>
      <p:pic>
        <p:nvPicPr>
          <p:cNvPr id="41" name="Image 6" descr="/home/claude/sdlc_ppt/icon_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2764155"/>
            <a:ext cx="258445" cy="258445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7452360" y="2673985"/>
            <a:ext cx="3778885" cy="427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3" name="Text 21"/>
          <p:cNvSpPr/>
          <p:nvPr/>
        </p:nvSpPr>
        <p:spPr>
          <a:xfrm>
            <a:off x="6858000" y="3314065"/>
            <a:ext cx="4589145" cy="1962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Difficult to accommodate changing requirements.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Customer involvement is limited after the requirement phase.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Testing is performed only after development is completed.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Changes made during later stages are costly and time-consuming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911" y="448055"/>
            <a:ext cx="1418844" cy="1447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3243" y="388620"/>
            <a:ext cx="1647444" cy="134264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66745" y="761809"/>
            <a:ext cx="5858509" cy="592455"/>
          </a:xfrm>
          <a:prstGeom prst="rect">
            <a:avLst/>
          </a:prstGeom>
        </p:spPr>
        <p:txBody>
          <a:bodyPr vert="horz" wrap="square" lIns="0" tIns="162471" rIns="0" bIns="0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A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Agile Model</a:t>
            </a:r>
            <a:endParaRPr lang="en-US" dirty="0"/>
          </a:p>
        </p:txBody>
      </p:sp>
      <p:sp>
        <p:nvSpPr>
          <p:cNvPr id="7" name="object 7"/>
          <p:cNvSpPr/>
          <p:nvPr/>
        </p:nvSpPr>
        <p:spPr>
          <a:xfrm>
            <a:off x="635" y="635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hape 3"/>
          <p:cNvSpPr/>
          <p:nvPr/>
        </p:nvSpPr>
        <p:spPr>
          <a:xfrm>
            <a:off x="1058209" y="2396962"/>
            <a:ext cx="2560320" cy="2560320"/>
          </a:xfrm>
          <a:prstGeom prst="ellipse">
            <a:avLst/>
          </a:prstGeom>
          <a:ln w="19050">
            <a:solidFill>
              <a:srgbClr val="C7D6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4"/>
          <p:cNvSpPr/>
          <p:nvPr/>
        </p:nvSpPr>
        <p:spPr>
          <a:xfrm>
            <a:off x="1652569" y="2150074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C4966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5"/>
          <p:cNvSpPr/>
          <p:nvPr/>
        </p:nvSpPr>
        <p:spPr>
          <a:xfrm>
            <a:off x="1652569" y="2150074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2887009" y="3384514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2314F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7"/>
          <p:cNvSpPr/>
          <p:nvPr/>
        </p:nvSpPr>
        <p:spPr>
          <a:xfrm>
            <a:off x="2887009" y="3384514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1652569" y="4618954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C4966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9"/>
          <p:cNvSpPr/>
          <p:nvPr/>
        </p:nvSpPr>
        <p:spPr>
          <a:xfrm>
            <a:off x="1652569" y="4618954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&amp; Review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18129" y="3384514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2314F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/>
          <p:nvPr/>
        </p:nvSpPr>
        <p:spPr>
          <a:xfrm>
            <a:off x="418129" y="3384514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1926889" y="3265642"/>
            <a:ext cx="822960" cy="822960"/>
          </a:xfrm>
          <a:prstGeom prst="ellipse">
            <a:avLst/>
          </a:prstGeom>
          <a:solidFill>
            <a:srgbClr val="00C2D1"/>
          </a:solidFill>
        </p:spPr>
        <p:txBody>
          <a:bodyPr/>
          <a:lstStyle/>
          <a:p>
            <a:endParaRPr lang="en-IN"/>
          </a:p>
        </p:txBody>
      </p:sp>
      <p:pic>
        <p:nvPicPr>
          <p:cNvPr id="19" name="Image 1" descr="/home/claude/sdlc_ppt/icon_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055" y="3450808"/>
            <a:ext cx="452628" cy="4526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52569" y="418004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4455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455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4212889" y="1600200"/>
            <a:ext cx="7223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solidFill>
                  <a:srgbClr val="44556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Short, repeated iterations (sprints) deliver working, testable increments — requirements are re-prioritized every cycle based on stakeholder feedback.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4484158" y="2423160"/>
            <a:ext cx="457200" cy="457200"/>
          </a:xfrm>
          <a:prstGeom prst="ellipse">
            <a:avLst/>
          </a:prstGeom>
          <a:solidFill>
            <a:srgbClr val="2E7D32"/>
          </a:solidFill>
        </p:spPr>
      </p:sp>
      <p:pic>
        <p:nvPicPr>
          <p:cNvPr id="23" name="Image 2" descr="/home/claude/sdlc_ppt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028" y="2526030"/>
            <a:ext cx="251460" cy="2514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18530" y="24231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4537364" y="4318157"/>
            <a:ext cx="457200" cy="457200"/>
          </a:xfrm>
          <a:prstGeom prst="ellipse">
            <a:avLst/>
          </a:prstGeom>
          <a:solidFill>
            <a:srgbClr val="B3261E"/>
          </a:solidFill>
        </p:spPr>
      </p:sp>
      <p:pic>
        <p:nvPicPr>
          <p:cNvPr id="27" name="Image 3" descr="/home/claude/sdlc_ppt/icon_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234" y="4421027"/>
            <a:ext cx="251460" cy="2514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31724" y="4318157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4676103" y="4918489"/>
            <a:ext cx="71780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active customer participation throughout the project.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experienced and well-coordinated development teams.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may change frequently, making cost and schedule estimation difficult.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may be less detailed compared to traditional models.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0" y="289560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frequent changes in customer requirements.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working software through short development cycles (sprints).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continuous customer involvement and feedback.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software quality through regular testing and reviews.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delivery of new features and bug fixes.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customer satisfaction with continuous improvements.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536" y="298195"/>
            <a:ext cx="11654790" cy="6162675"/>
            <a:chOff x="251536" y="298195"/>
            <a:chExt cx="11654790" cy="6162675"/>
          </a:xfrm>
        </p:grpSpPr>
        <p:sp>
          <p:nvSpPr>
            <p:cNvPr id="3" name="object 3"/>
            <p:cNvSpPr/>
            <p:nvPr/>
          </p:nvSpPr>
          <p:spPr>
            <a:xfrm>
              <a:off x="251536" y="298195"/>
              <a:ext cx="11654790" cy="6162675"/>
            </a:xfrm>
            <a:custGeom>
              <a:avLst/>
              <a:gdLst/>
              <a:ahLst/>
              <a:cxnLst/>
              <a:rect l="l" t="t" r="r" b="b"/>
              <a:pathLst>
                <a:path w="11654790" h="6162675">
                  <a:moveTo>
                    <a:pt x="11635206" y="6162484"/>
                  </a:moveTo>
                  <a:lnTo>
                    <a:pt x="19050" y="6162484"/>
                  </a:lnTo>
                  <a:lnTo>
                    <a:pt x="15747" y="6162192"/>
                  </a:lnTo>
                  <a:lnTo>
                    <a:pt x="0" y="6143434"/>
                  </a:lnTo>
                  <a:lnTo>
                    <a:pt x="0" y="19049"/>
                  </a:lnTo>
                  <a:lnTo>
                    <a:pt x="19050" y="0"/>
                  </a:lnTo>
                  <a:lnTo>
                    <a:pt x="11635206" y="0"/>
                  </a:lnTo>
                  <a:lnTo>
                    <a:pt x="11654256" y="19049"/>
                  </a:lnTo>
                  <a:lnTo>
                    <a:pt x="38100" y="19049"/>
                  </a:lnTo>
                  <a:lnTo>
                    <a:pt x="19050" y="38099"/>
                  </a:lnTo>
                  <a:lnTo>
                    <a:pt x="38100" y="38099"/>
                  </a:lnTo>
                  <a:lnTo>
                    <a:pt x="38100" y="6124384"/>
                  </a:lnTo>
                  <a:lnTo>
                    <a:pt x="19050" y="6124384"/>
                  </a:lnTo>
                  <a:lnTo>
                    <a:pt x="38100" y="6143434"/>
                  </a:lnTo>
                  <a:lnTo>
                    <a:pt x="11654256" y="6143434"/>
                  </a:lnTo>
                  <a:lnTo>
                    <a:pt x="11653964" y="6146736"/>
                  </a:lnTo>
                  <a:lnTo>
                    <a:pt x="11638521" y="6162192"/>
                  </a:lnTo>
                  <a:lnTo>
                    <a:pt x="11635206" y="6162484"/>
                  </a:lnTo>
                  <a:close/>
                </a:path>
                <a:path w="11654790" h="6162675">
                  <a:moveTo>
                    <a:pt x="38100" y="38099"/>
                  </a:moveTo>
                  <a:lnTo>
                    <a:pt x="19050" y="38099"/>
                  </a:lnTo>
                  <a:lnTo>
                    <a:pt x="38100" y="19049"/>
                  </a:lnTo>
                  <a:lnTo>
                    <a:pt x="38100" y="38099"/>
                  </a:lnTo>
                  <a:close/>
                </a:path>
                <a:path w="11654790" h="6162675">
                  <a:moveTo>
                    <a:pt x="11616156" y="38099"/>
                  </a:moveTo>
                  <a:lnTo>
                    <a:pt x="38100" y="38099"/>
                  </a:lnTo>
                  <a:lnTo>
                    <a:pt x="38100" y="19049"/>
                  </a:lnTo>
                  <a:lnTo>
                    <a:pt x="11616156" y="19049"/>
                  </a:lnTo>
                  <a:lnTo>
                    <a:pt x="11616156" y="38099"/>
                  </a:lnTo>
                  <a:close/>
                </a:path>
                <a:path w="11654790" h="6162675">
                  <a:moveTo>
                    <a:pt x="11616156" y="6143434"/>
                  </a:moveTo>
                  <a:lnTo>
                    <a:pt x="11616156" y="19049"/>
                  </a:lnTo>
                  <a:lnTo>
                    <a:pt x="11635206" y="38099"/>
                  </a:lnTo>
                  <a:lnTo>
                    <a:pt x="11654256" y="38099"/>
                  </a:lnTo>
                  <a:lnTo>
                    <a:pt x="11654256" y="6124384"/>
                  </a:lnTo>
                  <a:lnTo>
                    <a:pt x="11635206" y="6124384"/>
                  </a:lnTo>
                  <a:lnTo>
                    <a:pt x="11616156" y="6143434"/>
                  </a:lnTo>
                  <a:close/>
                </a:path>
                <a:path w="11654790" h="6162675">
                  <a:moveTo>
                    <a:pt x="11654256" y="38099"/>
                  </a:moveTo>
                  <a:lnTo>
                    <a:pt x="11635206" y="38099"/>
                  </a:lnTo>
                  <a:lnTo>
                    <a:pt x="11616156" y="19049"/>
                  </a:lnTo>
                  <a:lnTo>
                    <a:pt x="11654256" y="19049"/>
                  </a:lnTo>
                  <a:lnTo>
                    <a:pt x="11654256" y="38099"/>
                  </a:lnTo>
                  <a:close/>
                </a:path>
                <a:path w="11654790" h="6162675">
                  <a:moveTo>
                    <a:pt x="38100" y="6143434"/>
                  </a:moveTo>
                  <a:lnTo>
                    <a:pt x="19050" y="6124384"/>
                  </a:lnTo>
                  <a:lnTo>
                    <a:pt x="38100" y="6124384"/>
                  </a:lnTo>
                  <a:lnTo>
                    <a:pt x="38100" y="6143434"/>
                  </a:lnTo>
                  <a:close/>
                </a:path>
                <a:path w="11654790" h="6162675">
                  <a:moveTo>
                    <a:pt x="11616156" y="6143434"/>
                  </a:moveTo>
                  <a:lnTo>
                    <a:pt x="38100" y="6143434"/>
                  </a:lnTo>
                  <a:lnTo>
                    <a:pt x="38100" y="6124384"/>
                  </a:lnTo>
                  <a:lnTo>
                    <a:pt x="11616156" y="6124384"/>
                  </a:lnTo>
                  <a:lnTo>
                    <a:pt x="11616156" y="6143434"/>
                  </a:lnTo>
                  <a:close/>
                </a:path>
                <a:path w="11654790" h="6162675">
                  <a:moveTo>
                    <a:pt x="11654256" y="6143434"/>
                  </a:moveTo>
                  <a:lnTo>
                    <a:pt x="11616156" y="6143434"/>
                  </a:lnTo>
                  <a:lnTo>
                    <a:pt x="11635206" y="6124384"/>
                  </a:lnTo>
                  <a:lnTo>
                    <a:pt x="11654256" y="6124384"/>
                  </a:lnTo>
                  <a:lnTo>
                    <a:pt x="11654256" y="61434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095" y="413003"/>
              <a:ext cx="1418843" cy="14478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3243" y="388620"/>
            <a:ext cx="1647444" cy="134264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45305" y="798331"/>
            <a:ext cx="22685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A1F33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Spiral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/>
          <p:cNvSpPr/>
          <p:nvPr/>
        </p:nvSpPr>
        <p:spPr>
          <a:xfrm>
            <a:off x="1965960" y="2743200"/>
            <a:ext cx="1005840" cy="1005840"/>
          </a:xfrm>
          <a:prstGeom prst="ellipse">
            <a:avLst/>
          </a:prstGeom>
          <a:ln w="15875">
            <a:solidFill>
              <a:srgbClr val="C7D6DE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1600200" y="2377440"/>
            <a:ext cx="1737360" cy="1737360"/>
          </a:xfrm>
          <a:prstGeom prst="ellipse">
            <a:avLst/>
          </a:prstGeom>
          <a:ln w="15875">
            <a:solidFill>
              <a:srgbClr val="C7D6DE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1234440" y="2011680"/>
            <a:ext cx="2468880" cy="2468880"/>
          </a:xfrm>
          <a:prstGeom prst="ellipse">
            <a:avLst/>
          </a:prstGeom>
          <a:ln w="15875">
            <a:solidFill>
              <a:srgbClr val="C7D6DE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2468880" y="2011680"/>
            <a:ext cx="0" cy="2468880"/>
          </a:xfrm>
          <a:prstGeom prst="line">
            <a:avLst/>
          </a:prstGeom>
          <a:noFill/>
          <a:ln w="12700">
            <a:solidFill>
              <a:srgbClr val="C7D6DE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1234440" y="3246120"/>
            <a:ext cx="2468880" cy="0"/>
          </a:xfrm>
          <a:prstGeom prst="line">
            <a:avLst/>
          </a:prstGeom>
          <a:noFill/>
          <a:ln w="12700">
            <a:solidFill>
              <a:srgbClr val="C7D6DE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2606040" y="176479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2971800" y="329184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051560" y="329184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1417320" y="176479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Next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49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2103120" y="2880360"/>
            <a:ext cx="731520" cy="731520"/>
          </a:xfrm>
          <a:prstGeom prst="ellipse">
            <a:avLst/>
          </a:prstGeom>
          <a:solidFill>
            <a:srgbClr val="00C2D1"/>
          </a:solidFill>
        </p:spPr>
      </p:sp>
      <p:pic>
        <p:nvPicPr>
          <p:cNvPr id="20" name="Image 1" descr="/home/claude/sdlc_ppt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063240"/>
            <a:ext cx="365760" cy="365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19690" y="1733318"/>
            <a:ext cx="6096000" cy="954107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pPr algn="just"/>
            <a:r>
              <a:rPr lang="en-US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Spiral Model</a:t>
            </a:r>
            <a:r>
              <a:rPr lang="en-US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1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risk-driven and iterative SDLC model</a:t>
            </a:r>
            <a:r>
              <a:rPr lang="en-US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elements of both the Waterfall and Prototyping models. Development progresses through repeated cycles (spirals), where each cycle includes planning, risk analysis, engineering, testing, and customer evaluation.</a:t>
            </a:r>
            <a:endParaRPr lang="en-IN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61948" y="3028604"/>
            <a:ext cx="6096000" cy="30469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identifying and managing project risks.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iterative development with continuous improvements.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customer feedback after each development cycle.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large, complex, and high-risk projects.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Changes can be incorporated during each iteration.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due to repeated development cycles and risk analysis.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to manage and requires experienced developers.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for small or medium-sized projects.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 depends on accurate risk assessment.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743" y="280390"/>
            <a:ext cx="11726545" cy="6232525"/>
            <a:chOff x="237743" y="280390"/>
            <a:chExt cx="11726545" cy="6232525"/>
          </a:xfrm>
        </p:grpSpPr>
        <p:sp>
          <p:nvSpPr>
            <p:cNvPr id="3" name="object 3"/>
            <p:cNvSpPr/>
            <p:nvPr/>
          </p:nvSpPr>
          <p:spPr>
            <a:xfrm>
              <a:off x="237743" y="280390"/>
              <a:ext cx="11726545" cy="6232525"/>
            </a:xfrm>
            <a:custGeom>
              <a:avLst/>
              <a:gdLst/>
              <a:ahLst/>
              <a:cxnLst/>
              <a:rect l="l" t="t" r="r" b="b"/>
              <a:pathLst>
                <a:path w="11726545" h="6232525">
                  <a:moveTo>
                    <a:pt x="11707025" y="6232347"/>
                  </a:moveTo>
                  <a:lnTo>
                    <a:pt x="19050" y="6232347"/>
                  </a:lnTo>
                  <a:lnTo>
                    <a:pt x="15735" y="6232067"/>
                  </a:lnTo>
                  <a:lnTo>
                    <a:pt x="0" y="6213297"/>
                  </a:lnTo>
                  <a:lnTo>
                    <a:pt x="0" y="19050"/>
                  </a:lnTo>
                  <a:lnTo>
                    <a:pt x="19050" y="0"/>
                  </a:lnTo>
                  <a:lnTo>
                    <a:pt x="11707025" y="0"/>
                  </a:lnTo>
                  <a:lnTo>
                    <a:pt x="11726075" y="19050"/>
                  </a:ln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lnTo>
                    <a:pt x="38100" y="6194247"/>
                  </a:lnTo>
                  <a:lnTo>
                    <a:pt x="19050" y="6194247"/>
                  </a:lnTo>
                  <a:lnTo>
                    <a:pt x="38100" y="6213297"/>
                  </a:lnTo>
                  <a:lnTo>
                    <a:pt x="11726075" y="6213297"/>
                  </a:lnTo>
                  <a:lnTo>
                    <a:pt x="11725795" y="6216611"/>
                  </a:lnTo>
                  <a:lnTo>
                    <a:pt x="11710339" y="6232067"/>
                  </a:lnTo>
                  <a:lnTo>
                    <a:pt x="11707025" y="6232347"/>
                  </a:lnTo>
                  <a:close/>
                </a:path>
                <a:path w="11726545" h="6232525">
                  <a:moveTo>
                    <a:pt x="38100" y="38100"/>
                  </a:move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close/>
                </a:path>
                <a:path w="11726545" h="6232525">
                  <a:moveTo>
                    <a:pt x="11687975" y="38100"/>
                  </a:moveTo>
                  <a:lnTo>
                    <a:pt x="38100" y="38100"/>
                  </a:lnTo>
                  <a:lnTo>
                    <a:pt x="38100" y="19050"/>
                  </a:lnTo>
                  <a:lnTo>
                    <a:pt x="11687975" y="19050"/>
                  </a:lnTo>
                  <a:lnTo>
                    <a:pt x="11687975" y="38100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11687975" y="19050"/>
                  </a:lnTo>
                  <a:lnTo>
                    <a:pt x="11707025" y="38100"/>
                  </a:lnTo>
                  <a:lnTo>
                    <a:pt x="11726075" y="38100"/>
                  </a:lnTo>
                  <a:lnTo>
                    <a:pt x="11726075" y="6194247"/>
                  </a:lnTo>
                  <a:lnTo>
                    <a:pt x="1170702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38100"/>
                  </a:moveTo>
                  <a:lnTo>
                    <a:pt x="11707025" y="38100"/>
                  </a:lnTo>
                  <a:lnTo>
                    <a:pt x="11687975" y="19050"/>
                  </a:lnTo>
                  <a:lnTo>
                    <a:pt x="11726075" y="19050"/>
                  </a:lnTo>
                  <a:lnTo>
                    <a:pt x="11726075" y="38100"/>
                  </a:lnTo>
                  <a:close/>
                </a:path>
                <a:path w="11726545" h="6232525">
                  <a:moveTo>
                    <a:pt x="38100" y="6213297"/>
                  </a:moveTo>
                  <a:lnTo>
                    <a:pt x="19050" y="6194247"/>
                  </a:lnTo>
                  <a:lnTo>
                    <a:pt x="38100" y="6194247"/>
                  </a:lnTo>
                  <a:lnTo>
                    <a:pt x="38100" y="6213297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38100" y="6213297"/>
                  </a:lnTo>
                  <a:lnTo>
                    <a:pt x="38100" y="6194247"/>
                  </a:lnTo>
                  <a:lnTo>
                    <a:pt x="1168797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6213297"/>
                  </a:moveTo>
                  <a:lnTo>
                    <a:pt x="11687975" y="6213297"/>
                  </a:lnTo>
                  <a:lnTo>
                    <a:pt x="11707025" y="6194247"/>
                  </a:lnTo>
                  <a:lnTo>
                    <a:pt x="11726075" y="6194247"/>
                  </a:lnTo>
                  <a:lnTo>
                    <a:pt x="11726075" y="62132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523" y="364235"/>
              <a:ext cx="1418844" cy="14478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5476" y="416051"/>
            <a:ext cx="1647444" cy="134264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 Box 9"/>
          <p:cNvSpPr txBox="1"/>
          <p:nvPr/>
        </p:nvSpPr>
        <p:spPr>
          <a:xfrm>
            <a:off x="3276600" y="685800"/>
            <a:ext cx="6096000" cy="1212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ct val="60000"/>
              </a:spcAft>
            </a:pPr>
            <a:r>
              <a:rPr lang="en-US" sz="2800" b="1" kern="0" spc="2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RECOMMENDATION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ct val="60000"/>
              </a:spcAft>
            </a:pP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01980" y="2331559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14F"/>
          </a:solidFill>
        </p:spPr>
      </p:sp>
      <p:sp>
        <p:nvSpPr>
          <p:cNvPr id="12" name="Shape 4"/>
          <p:cNvSpPr/>
          <p:nvPr/>
        </p:nvSpPr>
        <p:spPr>
          <a:xfrm>
            <a:off x="858012" y="2587591"/>
            <a:ext cx="594360" cy="594360"/>
          </a:xfrm>
          <a:prstGeom prst="ellipse">
            <a:avLst/>
          </a:prstGeom>
          <a:solidFill>
            <a:srgbClr val="00C2D1"/>
          </a:solidFill>
        </p:spPr>
      </p:sp>
      <p:pic>
        <p:nvPicPr>
          <p:cNvPr id="13" name="Image 1" descr="/home/claude/sdlc_ppt/icon_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743" y="2721322"/>
            <a:ext cx="326898" cy="32689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607820" y="2532727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Continuous adaptation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607820" y="2989927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8E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Sprint-based delivery absorbs frequent requirement changes from students, instructors, and app-store feedback without derailing the schedule.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6316980" y="2331559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14F"/>
          </a:solidFill>
        </p:spPr>
      </p:sp>
      <p:sp>
        <p:nvSpPr>
          <p:cNvPr id="17" name="Shape 8"/>
          <p:cNvSpPr/>
          <p:nvPr/>
        </p:nvSpPr>
        <p:spPr>
          <a:xfrm>
            <a:off x="6573012" y="2587591"/>
            <a:ext cx="594360" cy="594360"/>
          </a:xfrm>
          <a:prstGeom prst="ellipse">
            <a:avLst/>
          </a:prstGeom>
          <a:solidFill>
            <a:srgbClr val="00C2D1"/>
          </a:solidFill>
        </p:spPr>
      </p:sp>
      <p:pic>
        <p:nvPicPr>
          <p:cNvPr id="18" name="Image 2" descr="/home/claude/sdlc_ppt/icon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743" y="2721322"/>
            <a:ext cx="326898" cy="32689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322820" y="2532727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Fast time-to-value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322820" y="2989927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8E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Working increments every 1–4 weeks let the company validate features with real learners early and often.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01980" y="4480399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14F"/>
          </a:solidFill>
        </p:spPr>
      </p:sp>
      <p:sp>
        <p:nvSpPr>
          <p:cNvPr id="22" name="Shape 12"/>
          <p:cNvSpPr/>
          <p:nvPr/>
        </p:nvSpPr>
        <p:spPr>
          <a:xfrm>
            <a:off x="858012" y="4736431"/>
            <a:ext cx="594360" cy="594360"/>
          </a:xfrm>
          <a:prstGeom prst="ellipse">
            <a:avLst/>
          </a:prstGeom>
          <a:solidFill>
            <a:srgbClr val="00C2D1"/>
          </a:solidFill>
        </p:spPr>
      </p:sp>
      <p:pic>
        <p:nvPicPr>
          <p:cNvPr id="23" name="Image 3" descr="/home/claude/sdlc_ppt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743" y="4870162"/>
            <a:ext cx="326898" cy="32689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607820" y="4681567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Built-in stakeholder loop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1607820" y="5138767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8E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Sprint reviews keep product owners, teachers, and UX researchers directly engaged in shaping the backlog.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316980" y="4480399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2314F"/>
          </a:solidFill>
        </p:spPr>
      </p:sp>
      <p:sp>
        <p:nvSpPr>
          <p:cNvPr id="27" name="Shape 16"/>
          <p:cNvSpPr/>
          <p:nvPr/>
        </p:nvSpPr>
        <p:spPr>
          <a:xfrm>
            <a:off x="6573012" y="4736431"/>
            <a:ext cx="594360" cy="594360"/>
          </a:xfrm>
          <a:prstGeom prst="ellipse">
            <a:avLst/>
          </a:prstGeom>
          <a:solidFill>
            <a:srgbClr val="00C2D1"/>
          </a:solidFill>
        </p:spPr>
      </p:sp>
      <p:pic>
        <p:nvPicPr>
          <p:cNvPr id="28" name="Image 4" descr="/home/claude/sdlc_ppt/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743" y="4870162"/>
            <a:ext cx="326898" cy="32689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322820" y="4681567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Manageable risk profile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7322820" y="5138767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8E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For an app of this scale, Agile's lighter-weight risk handling is sufficient — Spiral's overhead isn't justified.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8012" y="1828496"/>
            <a:ext cx="428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Agile Is the Recommended SDLC Model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743" y="280390"/>
            <a:ext cx="11726545" cy="6232525"/>
            <a:chOff x="237743" y="280390"/>
            <a:chExt cx="11726545" cy="6232525"/>
          </a:xfrm>
        </p:grpSpPr>
        <p:sp>
          <p:nvSpPr>
            <p:cNvPr id="3" name="object 3"/>
            <p:cNvSpPr/>
            <p:nvPr/>
          </p:nvSpPr>
          <p:spPr>
            <a:xfrm>
              <a:off x="237743" y="280390"/>
              <a:ext cx="11726545" cy="6232525"/>
            </a:xfrm>
            <a:custGeom>
              <a:avLst/>
              <a:gdLst/>
              <a:ahLst/>
              <a:cxnLst/>
              <a:rect l="l" t="t" r="r" b="b"/>
              <a:pathLst>
                <a:path w="11726545" h="6232525">
                  <a:moveTo>
                    <a:pt x="11707025" y="6232347"/>
                  </a:moveTo>
                  <a:lnTo>
                    <a:pt x="19050" y="6232347"/>
                  </a:lnTo>
                  <a:lnTo>
                    <a:pt x="15735" y="6232067"/>
                  </a:lnTo>
                  <a:lnTo>
                    <a:pt x="0" y="6213297"/>
                  </a:lnTo>
                  <a:lnTo>
                    <a:pt x="0" y="19050"/>
                  </a:lnTo>
                  <a:lnTo>
                    <a:pt x="19050" y="0"/>
                  </a:lnTo>
                  <a:lnTo>
                    <a:pt x="11707025" y="0"/>
                  </a:lnTo>
                  <a:lnTo>
                    <a:pt x="11726075" y="19050"/>
                  </a:ln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lnTo>
                    <a:pt x="38100" y="6194247"/>
                  </a:lnTo>
                  <a:lnTo>
                    <a:pt x="19050" y="6194247"/>
                  </a:lnTo>
                  <a:lnTo>
                    <a:pt x="38100" y="6213297"/>
                  </a:lnTo>
                  <a:lnTo>
                    <a:pt x="11726075" y="6213297"/>
                  </a:lnTo>
                  <a:lnTo>
                    <a:pt x="11725795" y="6216611"/>
                  </a:lnTo>
                  <a:lnTo>
                    <a:pt x="11710339" y="6232067"/>
                  </a:lnTo>
                  <a:lnTo>
                    <a:pt x="11707025" y="6232347"/>
                  </a:lnTo>
                  <a:close/>
                </a:path>
                <a:path w="11726545" h="6232525">
                  <a:moveTo>
                    <a:pt x="38100" y="38100"/>
                  </a:move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close/>
                </a:path>
                <a:path w="11726545" h="6232525">
                  <a:moveTo>
                    <a:pt x="11687975" y="38100"/>
                  </a:moveTo>
                  <a:lnTo>
                    <a:pt x="38100" y="38100"/>
                  </a:lnTo>
                  <a:lnTo>
                    <a:pt x="38100" y="19050"/>
                  </a:lnTo>
                  <a:lnTo>
                    <a:pt x="11687975" y="19050"/>
                  </a:lnTo>
                  <a:lnTo>
                    <a:pt x="11687975" y="38100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11687975" y="19050"/>
                  </a:lnTo>
                  <a:lnTo>
                    <a:pt x="11707025" y="38100"/>
                  </a:lnTo>
                  <a:lnTo>
                    <a:pt x="11726075" y="38100"/>
                  </a:lnTo>
                  <a:lnTo>
                    <a:pt x="11726075" y="6194247"/>
                  </a:lnTo>
                  <a:lnTo>
                    <a:pt x="1170702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38100"/>
                  </a:moveTo>
                  <a:lnTo>
                    <a:pt x="11707025" y="38100"/>
                  </a:lnTo>
                  <a:lnTo>
                    <a:pt x="11687975" y="19050"/>
                  </a:lnTo>
                  <a:lnTo>
                    <a:pt x="11726075" y="19050"/>
                  </a:lnTo>
                  <a:lnTo>
                    <a:pt x="11726075" y="38100"/>
                  </a:lnTo>
                  <a:close/>
                </a:path>
                <a:path w="11726545" h="6232525">
                  <a:moveTo>
                    <a:pt x="38100" y="6213297"/>
                  </a:moveTo>
                  <a:lnTo>
                    <a:pt x="19050" y="6194247"/>
                  </a:lnTo>
                  <a:lnTo>
                    <a:pt x="38100" y="6194247"/>
                  </a:lnTo>
                  <a:lnTo>
                    <a:pt x="38100" y="6213297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38100" y="6213297"/>
                  </a:lnTo>
                  <a:lnTo>
                    <a:pt x="38100" y="6194247"/>
                  </a:lnTo>
                  <a:lnTo>
                    <a:pt x="1168797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6213297"/>
                  </a:moveTo>
                  <a:lnTo>
                    <a:pt x="11687975" y="6213297"/>
                  </a:lnTo>
                  <a:lnTo>
                    <a:pt x="11707025" y="6194247"/>
                  </a:lnTo>
                  <a:lnTo>
                    <a:pt x="11726075" y="6194247"/>
                  </a:lnTo>
                  <a:lnTo>
                    <a:pt x="11726075" y="62132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523" y="364235"/>
              <a:ext cx="1418844" cy="14478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5476" y="416051"/>
            <a:ext cx="1647444" cy="134264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30410" y="825763"/>
            <a:ext cx="59314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2800" b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Why Not Waterfall or Spiral Alone?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0" y="2438400"/>
            <a:ext cx="9525000" cy="116955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Not Waterfall?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Waterfall model follows a fixed, sequential process, making it difficult to accommodate changing customer requirements.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is mainly collected at the beginning, leaving little opportunity for changes during development.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performed only after the development phase, so issues are identified late.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features after implementation is costly and time-consuming.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200" y="4234316"/>
            <a:ext cx="9525000" cy="116955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Not Spiral?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Spiral model is primarily designed for large, complex, and high-risk projects.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extensive risk analysis, increasing development cost and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iterations and risk assessments requires experienced teams.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 Mobile Learning Application, the complexity and cost of the Spiral model are usually unnecessary.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743" y="280390"/>
            <a:ext cx="11726545" cy="6232525"/>
            <a:chOff x="237743" y="280390"/>
            <a:chExt cx="11726545" cy="6232525"/>
          </a:xfrm>
        </p:grpSpPr>
        <p:sp>
          <p:nvSpPr>
            <p:cNvPr id="3" name="object 3"/>
            <p:cNvSpPr/>
            <p:nvPr/>
          </p:nvSpPr>
          <p:spPr>
            <a:xfrm>
              <a:off x="237743" y="280390"/>
              <a:ext cx="11726545" cy="6232525"/>
            </a:xfrm>
            <a:custGeom>
              <a:avLst/>
              <a:gdLst/>
              <a:ahLst/>
              <a:cxnLst/>
              <a:rect l="l" t="t" r="r" b="b"/>
              <a:pathLst>
                <a:path w="11726545" h="6232525">
                  <a:moveTo>
                    <a:pt x="11707025" y="6232347"/>
                  </a:moveTo>
                  <a:lnTo>
                    <a:pt x="19050" y="6232347"/>
                  </a:lnTo>
                  <a:lnTo>
                    <a:pt x="15735" y="6232067"/>
                  </a:lnTo>
                  <a:lnTo>
                    <a:pt x="0" y="6213297"/>
                  </a:lnTo>
                  <a:lnTo>
                    <a:pt x="0" y="19050"/>
                  </a:lnTo>
                  <a:lnTo>
                    <a:pt x="19050" y="0"/>
                  </a:lnTo>
                  <a:lnTo>
                    <a:pt x="11707025" y="0"/>
                  </a:lnTo>
                  <a:lnTo>
                    <a:pt x="11726075" y="19050"/>
                  </a:ln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lnTo>
                    <a:pt x="38100" y="6194247"/>
                  </a:lnTo>
                  <a:lnTo>
                    <a:pt x="19050" y="6194247"/>
                  </a:lnTo>
                  <a:lnTo>
                    <a:pt x="38100" y="6213297"/>
                  </a:lnTo>
                  <a:lnTo>
                    <a:pt x="11726075" y="6213297"/>
                  </a:lnTo>
                  <a:lnTo>
                    <a:pt x="11725795" y="6216611"/>
                  </a:lnTo>
                  <a:lnTo>
                    <a:pt x="11710339" y="6232067"/>
                  </a:lnTo>
                  <a:lnTo>
                    <a:pt x="11707025" y="6232347"/>
                  </a:lnTo>
                  <a:close/>
                </a:path>
                <a:path w="11726545" h="6232525">
                  <a:moveTo>
                    <a:pt x="38100" y="38100"/>
                  </a:move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close/>
                </a:path>
                <a:path w="11726545" h="6232525">
                  <a:moveTo>
                    <a:pt x="11687975" y="38100"/>
                  </a:moveTo>
                  <a:lnTo>
                    <a:pt x="38100" y="38100"/>
                  </a:lnTo>
                  <a:lnTo>
                    <a:pt x="38100" y="19050"/>
                  </a:lnTo>
                  <a:lnTo>
                    <a:pt x="11687975" y="19050"/>
                  </a:lnTo>
                  <a:lnTo>
                    <a:pt x="11687975" y="38100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11687975" y="19050"/>
                  </a:lnTo>
                  <a:lnTo>
                    <a:pt x="11707025" y="38100"/>
                  </a:lnTo>
                  <a:lnTo>
                    <a:pt x="11726075" y="38100"/>
                  </a:lnTo>
                  <a:lnTo>
                    <a:pt x="11726075" y="6194247"/>
                  </a:lnTo>
                  <a:lnTo>
                    <a:pt x="1170702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38100"/>
                  </a:moveTo>
                  <a:lnTo>
                    <a:pt x="11707025" y="38100"/>
                  </a:lnTo>
                  <a:lnTo>
                    <a:pt x="11687975" y="19050"/>
                  </a:lnTo>
                  <a:lnTo>
                    <a:pt x="11726075" y="19050"/>
                  </a:lnTo>
                  <a:lnTo>
                    <a:pt x="11726075" y="38100"/>
                  </a:lnTo>
                  <a:close/>
                </a:path>
                <a:path w="11726545" h="6232525">
                  <a:moveTo>
                    <a:pt x="38100" y="6213297"/>
                  </a:moveTo>
                  <a:lnTo>
                    <a:pt x="19050" y="6194247"/>
                  </a:lnTo>
                  <a:lnTo>
                    <a:pt x="38100" y="6194247"/>
                  </a:lnTo>
                  <a:lnTo>
                    <a:pt x="38100" y="6213297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38100" y="6213297"/>
                  </a:lnTo>
                  <a:lnTo>
                    <a:pt x="38100" y="6194247"/>
                  </a:lnTo>
                  <a:lnTo>
                    <a:pt x="1168797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6213297"/>
                  </a:moveTo>
                  <a:lnTo>
                    <a:pt x="11687975" y="6213297"/>
                  </a:lnTo>
                  <a:lnTo>
                    <a:pt x="11707025" y="6194247"/>
                  </a:lnTo>
                  <a:lnTo>
                    <a:pt x="11726075" y="6194247"/>
                  </a:lnTo>
                  <a:lnTo>
                    <a:pt x="11726075" y="62132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523" y="364235"/>
              <a:ext cx="1418844" cy="14478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5476" y="416051"/>
            <a:ext cx="1647444" cy="134264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 Box 9"/>
          <p:cNvSpPr txBox="1"/>
          <p:nvPr/>
        </p:nvSpPr>
        <p:spPr>
          <a:xfrm>
            <a:off x="2971800" y="6858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ct val="60000"/>
              </a:spcAft>
            </a:pPr>
            <a:r>
              <a:rPr lang="en-US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US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47800" y="2413338"/>
            <a:ext cx="937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Neither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nor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model alone is the best choice for a Mobile Learning Application with frequently changing requirements.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preferred SDLC model because it provides flexibility, continuous customer feedback, frequent software releases, and faster adaptation to changing needs, resulting in higher customer satisfaction and better software quality.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7743" y="280390"/>
            <a:ext cx="11726545" cy="6232525"/>
            <a:chOff x="237743" y="280390"/>
            <a:chExt cx="11726545" cy="6232525"/>
          </a:xfrm>
        </p:grpSpPr>
        <p:sp>
          <p:nvSpPr>
            <p:cNvPr id="3" name="object 3"/>
            <p:cNvSpPr/>
            <p:nvPr/>
          </p:nvSpPr>
          <p:spPr>
            <a:xfrm>
              <a:off x="237743" y="280390"/>
              <a:ext cx="11726545" cy="6232525"/>
            </a:xfrm>
            <a:custGeom>
              <a:avLst/>
              <a:gdLst/>
              <a:ahLst/>
              <a:cxnLst/>
              <a:rect l="l" t="t" r="r" b="b"/>
              <a:pathLst>
                <a:path w="11726545" h="6232525">
                  <a:moveTo>
                    <a:pt x="11707025" y="6232347"/>
                  </a:moveTo>
                  <a:lnTo>
                    <a:pt x="19050" y="6232347"/>
                  </a:lnTo>
                  <a:lnTo>
                    <a:pt x="15735" y="6232067"/>
                  </a:lnTo>
                  <a:lnTo>
                    <a:pt x="0" y="6213297"/>
                  </a:lnTo>
                  <a:lnTo>
                    <a:pt x="0" y="19050"/>
                  </a:lnTo>
                  <a:lnTo>
                    <a:pt x="19050" y="0"/>
                  </a:lnTo>
                  <a:lnTo>
                    <a:pt x="11707025" y="0"/>
                  </a:lnTo>
                  <a:lnTo>
                    <a:pt x="11726075" y="19050"/>
                  </a:ln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lnTo>
                    <a:pt x="38100" y="6194247"/>
                  </a:lnTo>
                  <a:lnTo>
                    <a:pt x="19050" y="6194247"/>
                  </a:lnTo>
                  <a:lnTo>
                    <a:pt x="38100" y="6213297"/>
                  </a:lnTo>
                  <a:lnTo>
                    <a:pt x="11726075" y="6213297"/>
                  </a:lnTo>
                  <a:lnTo>
                    <a:pt x="11725795" y="6216611"/>
                  </a:lnTo>
                  <a:lnTo>
                    <a:pt x="11710339" y="6232067"/>
                  </a:lnTo>
                  <a:lnTo>
                    <a:pt x="11707025" y="6232347"/>
                  </a:lnTo>
                  <a:close/>
                </a:path>
                <a:path w="11726545" h="6232525">
                  <a:moveTo>
                    <a:pt x="38100" y="38100"/>
                  </a:move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close/>
                </a:path>
                <a:path w="11726545" h="6232525">
                  <a:moveTo>
                    <a:pt x="11687975" y="38100"/>
                  </a:moveTo>
                  <a:lnTo>
                    <a:pt x="38100" y="38100"/>
                  </a:lnTo>
                  <a:lnTo>
                    <a:pt x="38100" y="19050"/>
                  </a:lnTo>
                  <a:lnTo>
                    <a:pt x="11687975" y="19050"/>
                  </a:lnTo>
                  <a:lnTo>
                    <a:pt x="11687975" y="38100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11687975" y="19050"/>
                  </a:lnTo>
                  <a:lnTo>
                    <a:pt x="11707025" y="38100"/>
                  </a:lnTo>
                  <a:lnTo>
                    <a:pt x="11726075" y="38100"/>
                  </a:lnTo>
                  <a:lnTo>
                    <a:pt x="11726075" y="6194247"/>
                  </a:lnTo>
                  <a:lnTo>
                    <a:pt x="1170702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38100"/>
                  </a:moveTo>
                  <a:lnTo>
                    <a:pt x="11707025" y="38100"/>
                  </a:lnTo>
                  <a:lnTo>
                    <a:pt x="11687975" y="19050"/>
                  </a:lnTo>
                  <a:lnTo>
                    <a:pt x="11726075" y="19050"/>
                  </a:lnTo>
                  <a:lnTo>
                    <a:pt x="11726075" y="38100"/>
                  </a:lnTo>
                  <a:close/>
                </a:path>
                <a:path w="11726545" h="6232525">
                  <a:moveTo>
                    <a:pt x="38100" y="6213297"/>
                  </a:moveTo>
                  <a:lnTo>
                    <a:pt x="19050" y="6194247"/>
                  </a:lnTo>
                  <a:lnTo>
                    <a:pt x="38100" y="6194247"/>
                  </a:lnTo>
                  <a:lnTo>
                    <a:pt x="38100" y="6213297"/>
                  </a:lnTo>
                  <a:close/>
                </a:path>
                <a:path w="11726545" h="6232525">
                  <a:moveTo>
                    <a:pt x="11687975" y="6213297"/>
                  </a:moveTo>
                  <a:lnTo>
                    <a:pt x="38100" y="6213297"/>
                  </a:lnTo>
                  <a:lnTo>
                    <a:pt x="38100" y="6194247"/>
                  </a:lnTo>
                  <a:lnTo>
                    <a:pt x="11687975" y="6194247"/>
                  </a:lnTo>
                  <a:lnTo>
                    <a:pt x="11687975" y="6213297"/>
                  </a:lnTo>
                  <a:close/>
                </a:path>
                <a:path w="11726545" h="6232525">
                  <a:moveTo>
                    <a:pt x="11726075" y="6213297"/>
                  </a:moveTo>
                  <a:lnTo>
                    <a:pt x="11687975" y="6213297"/>
                  </a:lnTo>
                  <a:lnTo>
                    <a:pt x="11707025" y="6194247"/>
                  </a:lnTo>
                  <a:lnTo>
                    <a:pt x="11726075" y="6194247"/>
                  </a:lnTo>
                  <a:lnTo>
                    <a:pt x="11726075" y="62132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523" y="364235"/>
              <a:ext cx="1418844" cy="14478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5476" y="416051"/>
            <a:ext cx="1647444" cy="134264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316822" y="2854236"/>
            <a:ext cx="31826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Times New Roman" panose="02020603050405020304"/>
                <a:cs typeface="Times New Roman" panose="02020603050405020304"/>
              </a:rPr>
              <a:t>THANK</a:t>
            </a:r>
            <a:r>
              <a:rPr sz="4000" b="0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0" spc="-20" dirty="0">
                <a:latin typeface="Times New Roman" panose="02020603050405020304"/>
                <a:cs typeface="Times New Roman" panose="02020603050405020304"/>
              </a:rPr>
              <a:t>YOU!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832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OBJECTIVE</vt:lpstr>
      <vt:lpstr>PowerPoint Presentation</vt:lpstr>
      <vt:lpstr>PowerPoint Presentation</vt:lpstr>
      <vt:lpstr>Agile Model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</dc:title>
  <dc:creator>acer</dc:creator>
  <cp:lastModifiedBy>acer</cp:lastModifiedBy>
  <cp:revision>10</cp:revision>
  <dcterms:created xsi:type="dcterms:W3CDTF">2026-07-15T05:02:00Z</dcterms:created>
  <dcterms:modified xsi:type="dcterms:W3CDTF">2026-07-23T04:14:50Z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2026-02-17T11:00:00Z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2026-07-15T11:00:00Z</vt:filetime>
  </property>
  <property fmtid="{D5CDD505-2E9C-101B-9397-08002B2CF9AE}" pid="6" name="SourceModified">
    <vt:lpwstr>D:20260217102027+05'30'</vt:lpwstr>
  </property>
  <property fmtid="{D5CDD505-2E9C-101B-9397-08002B2CF9AE}" pid="7" name="KSOProductBuildVer">
    <vt:lpwstr>1033-12.1.0.27458</vt:lpwstr>
  </property>
  <property fmtid="{D5CDD505-2E9C-101B-9397-08002B2CF9AE}" pid="8" name="ICV">
    <vt:lpwstr>4BFDB7BF6DA749AF90E96D1ED02E6C6F_13</vt:lpwstr>
  </property>
</Properties>
</file>